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4" r:id="rId1"/>
  </p:sldMasterIdLst>
  <p:notesMasterIdLst>
    <p:notesMasterId r:id="rId23"/>
  </p:notes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7" r:id="rId10"/>
    <p:sldId id="282" r:id="rId11"/>
    <p:sldId id="269" r:id="rId12"/>
    <p:sldId id="270" r:id="rId13"/>
    <p:sldId id="271" r:id="rId14"/>
    <p:sldId id="273" r:id="rId15"/>
    <p:sldId id="275" r:id="rId16"/>
    <p:sldId id="277" r:id="rId17"/>
    <p:sldId id="278" r:id="rId18"/>
    <p:sldId id="280" r:id="rId19"/>
    <p:sldId id="283" r:id="rId20"/>
    <p:sldId id="279" r:id="rId21"/>
    <p:sldId id="28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8A5352-F283-4DAD-86AD-67753A57B5EF}" type="datetimeFigureOut">
              <a:rPr lang="fr-FR" smtClean="0"/>
              <a:t>18/11/2025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E8538-4C03-489A-B4C5-4B846A2673F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6431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E5F7EFB-ACD4-4876-80F9-028AB22437FC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8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B426A-31DE-4AEE-BBB5-07761B009EA9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0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6B4C2-DD5C-4806-8043-BFE211351EC1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0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A39DD-8ABE-47E2-A745-BE5BD203882D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82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386D-E8F1-4567-B5A7-A3C264225BF7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21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F090B-F8F2-4F97-B8E5-586830A0F7F0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8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8690-28C7-4BA5-A176-5F56ADF923ED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7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A3FF0-9E9C-4159-AE29-62EDF3E96CEB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53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2574-1976-4356-94D9-FCB14341D014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7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1006C-947E-486F-A8FF-679DEE382E69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0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06451-F69D-45EE-B4F6-B08C5EC640F4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359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0A1D-F890-4252-814D-5F8C03F25BF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16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11C46-D060-4C87-9F0F-6AEBA0BF065A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32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BB897-D812-4756-A37E-BB1A036482E7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1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F9022-357B-4787-BF73-A0410CF1D332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3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E15FD1F6-B324-43A0-A51D-D452AC72D788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53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5297B-060D-4AFC-81C2-123B34C0C86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89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BBD36FB6-08F0-4A9A-BFEA-C5AA268AFEF6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A603872-D5BE-0067-2BAD-412911AF91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25913" y="6672580"/>
            <a:ext cx="920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800">
                <a:solidFill>
                  <a:srgbClr val="ED7D31">
                    <a:alpha val="50000"/>
                  </a:srgbClr>
                </a:solidFill>
                <a:latin typeface="Helvetica 75 Bold" panose="020B0804020202020204" pitchFamily="34" charset="0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31409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99" r:id="rId15"/>
    <p:sldLayoutId id="2147483900" r:id="rId16"/>
    <p:sldLayoutId id="2147483901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Projet </a:t>
            </a:r>
            <a:r>
              <a:rPr lang="fr-FR" sz="6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Bottleneck</a:t>
            </a:r>
            <a:endParaRPr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sz="2800" dirty="0"/>
          </a:p>
          <a:p>
            <a:pPr>
              <a:defRPr sz="1400"/>
            </a:pPr>
            <a:r>
              <a:rPr sz="7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Optimisation</a:t>
            </a:r>
            <a:r>
              <a:rPr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 Données – Mission Bottleneck</a:t>
            </a:r>
          </a:p>
          <a:p>
            <a:pPr>
              <a:defRPr sz="1400"/>
            </a:pPr>
            <a:r>
              <a:rPr lang="fr-FR" sz="7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Mohamed Zaidi</a:t>
            </a:r>
            <a:endParaRPr sz="7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de </a:t>
            </a:r>
            <a:r>
              <a:rPr lang="fr-FR" dirty="0" err="1"/>
              <a:t>Bottleneck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2340077"/>
            <a:ext cx="7909485" cy="3726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dirty="0" err="1"/>
              <a:t>Bottleneck</a:t>
            </a:r>
            <a:r>
              <a:rPr lang="fr-FR" sz="2200" dirty="0"/>
              <a:t> vend des vins, spiritueux et produits d’exception en France et à l’export. Deux outils gèrent l’activité :</a:t>
            </a:r>
            <a:endParaRPr lang="fr-FR" sz="2400" dirty="0"/>
          </a:p>
          <a:p>
            <a:r>
              <a:rPr lang="fr-FR" b="1" dirty="0"/>
              <a:t>ERP interne</a:t>
            </a:r>
            <a:r>
              <a:rPr lang="fr-FR" dirty="0"/>
              <a:t> pour les stocks et les prix d’achat</a:t>
            </a:r>
          </a:p>
          <a:p>
            <a:r>
              <a:rPr lang="fr-FR" b="1" dirty="0"/>
              <a:t>Site </a:t>
            </a:r>
            <a:r>
              <a:rPr lang="fr-FR" b="1" dirty="0" err="1"/>
              <a:t>WooCommerce</a:t>
            </a:r>
            <a:r>
              <a:rPr lang="fr-FR" dirty="0"/>
              <a:t> pour les ventes en ligne</a:t>
            </a:r>
          </a:p>
          <a:p>
            <a:pPr marL="0" indent="0">
              <a:buNone/>
            </a:pPr>
            <a:br>
              <a:rPr lang="fr-FR" dirty="0"/>
            </a:br>
            <a:r>
              <a:rPr lang="fr-FR" dirty="0"/>
              <a:t>Ces systèmes ne communiquent pas : les </a:t>
            </a:r>
            <a:r>
              <a:rPr lang="fr-FR" dirty="0" err="1"/>
              <a:t>reportings</a:t>
            </a:r>
            <a:r>
              <a:rPr lang="fr-FR" dirty="0"/>
              <a:t> sont faits à la main dans Excel, ce qui prend deux jours par mois et peut générer des erreurs (doublons, prix incohérents)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F4A24D-DE3E-59D6-25E3-B398811D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78" y="2088091"/>
            <a:ext cx="6629422" cy="3854979"/>
          </a:xfrm>
        </p:spPr>
        <p:txBody>
          <a:bodyPr>
            <a:normAutofit/>
          </a:bodyPr>
          <a:lstStyle/>
          <a:p>
            <a:endParaRPr sz="2000" dirty="0"/>
          </a:p>
          <a:p>
            <a:pPr>
              <a:defRPr sz="1400"/>
            </a:pPr>
            <a:r>
              <a:rPr lang="fr-FR" sz="1600" dirty="0">
                <a:solidFill>
                  <a:schemeClr val="tx1"/>
                </a:solidFill>
              </a:rPr>
              <a:t>La direction nous a confié un mandat précis : mettre la donnée sous contrôle et en tirer des actions concrètes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B20E2DF-9CD4-4CA8-9009-A23C61B617F0}"/>
              </a:ext>
            </a:extLst>
          </p:cNvPr>
          <p:cNvSpPr txBox="1"/>
          <p:nvPr/>
        </p:nvSpPr>
        <p:spPr>
          <a:xfrm>
            <a:off x="539155" y="3700414"/>
            <a:ext cx="698288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Objectifs et résultats attendus :</a:t>
            </a:r>
            <a:endParaRPr lang="fr-FR" dirty="0"/>
          </a:p>
          <a:p>
            <a:r>
              <a:rPr lang="fr-FR" dirty="0"/>
              <a:t>1️⃣ </a:t>
            </a:r>
            <a:r>
              <a:rPr lang="fr-FR" b="1" dirty="0"/>
              <a:t>Nettoyer la base produit</a:t>
            </a:r>
            <a:r>
              <a:rPr lang="fr-FR" dirty="0"/>
              <a:t> → 0 anomalie bloquante</a:t>
            </a:r>
            <a:br>
              <a:rPr lang="fr-FR" dirty="0"/>
            </a:br>
            <a:r>
              <a:rPr lang="fr-FR" dirty="0"/>
              <a:t>2️⃣ </a:t>
            </a:r>
            <a:r>
              <a:rPr lang="fr-FR" b="1" dirty="0"/>
              <a:t>Fusionner ERP + Web</a:t>
            </a:r>
            <a:r>
              <a:rPr lang="fr-FR" dirty="0"/>
              <a:t> → fichier unique </a:t>
            </a:r>
            <a:r>
              <a:rPr lang="fr-FR" i="1" dirty="0" err="1"/>
              <a:t>df_final</a:t>
            </a:r>
            <a:br>
              <a:rPr lang="fr-FR" dirty="0"/>
            </a:br>
            <a:r>
              <a:rPr lang="fr-FR" dirty="0"/>
              <a:t>3️⃣ </a:t>
            </a:r>
            <a:r>
              <a:rPr lang="fr-FR" b="1" dirty="0"/>
              <a:t>Calculer CA, volumes, stock, marges</a:t>
            </a:r>
            <a:r>
              <a:rPr lang="fr-FR" dirty="0"/>
              <a:t> → KPI fiables pour le CODIR</a:t>
            </a:r>
            <a:br>
              <a:rPr lang="fr-FR" dirty="0"/>
            </a:br>
            <a:r>
              <a:rPr lang="fr-FR" dirty="0"/>
              <a:t>4️⃣ </a:t>
            </a:r>
            <a:r>
              <a:rPr lang="fr-FR" b="1" dirty="0"/>
              <a:t>Détecter prix/stock/marge anormaux</a:t>
            </a:r>
            <a:r>
              <a:rPr lang="fr-FR" dirty="0"/>
              <a:t> → liste d’actions rapides</a:t>
            </a:r>
            <a:br>
              <a:rPr lang="fr-FR" dirty="0"/>
            </a:br>
            <a:r>
              <a:rPr lang="fr-FR" dirty="0"/>
              <a:t>5️⃣ </a:t>
            </a:r>
            <a:r>
              <a:rPr lang="fr-FR" b="1" dirty="0"/>
              <a:t>Livrer un pipeline ré-exécutable</a:t>
            </a:r>
            <a:r>
              <a:rPr lang="fr-FR" dirty="0"/>
              <a:t> → </a:t>
            </a:r>
            <a:r>
              <a:rPr lang="fr-FR" dirty="0" err="1"/>
              <a:t>reporting</a:t>
            </a:r>
            <a:r>
              <a:rPr lang="fr-FR" dirty="0"/>
              <a:t> en &lt; 30 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607695-46AF-E582-E123-CF40A39C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F591AE6-F077-1CFD-758D-F03A9C8D1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/>
          <a:lstStyle/>
          <a:p>
            <a:r>
              <a:rPr lang="fr-FR" dirty="0"/>
              <a:t>Objectifs de la Mission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337D249-7137-4BC6-8EDE-1FB5E426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Synthèse Exécutive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586D9095-DE2B-73C8-D14D-0ED6EBD06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2303822"/>
            <a:ext cx="3301131" cy="4246562"/>
          </a:xfrm>
        </p:spPr>
        <p:txBody>
          <a:bodyPr>
            <a:normAutofit/>
          </a:bodyPr>
          <a:lstStyle/>
          <a:p>
            <a:r>
              <a:rPr lang="fr-FR" dirty="0"/>
              <a:t>En un mois, la fusion des exports ERP, Web et table de liaison montre : </a:t>
            </a:r>
            <a:r>
              <a:rPr lang="fr-FR" b="1" dirty="0"/>
              <a:t>143 680€ de chiffre d’affaires</a:t>
            </a:r>
            <a:r>
              <a:rPr lang="fr-FR" dirty="0"/>
              <a:t> et </a:t>
            </a:r>
            <a:r>
              <a:rPr lang="fr-FR" b="1" dirty="0"/>
              <a:t>5750 unités vendues</a:t>
            </a:r>
            <a:r>
              <a:rPr lang="fr-FR" dirty="0"/>
              <a:t>. 80% du CA vient de 434 références seulement, alors qu’un stock de près de </a:t>
            </a:r>
            <a:r>
              <a:rPr lang="fr-FR" b="1" dirty="0"/>
              <a:t>300 k€</a:t>
            </a:r>
            <a:r>
              <a:rPr lang="fr-FR" dirty="0"/>
              <a:t> reste immobilisé. Quatre articles sont vendus à perte, ils exigent un correctif immédiat.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B4D7F92-B677-94C3-5E96-85C8AD45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5D7D84F8-5E8F-596F-F3D9-E1ECAF94A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676704"/>
              </p:ext>
            </p:extLst>
          </p:nvPr>
        </p:nvGraphicFramePr>
        <p:xfrm>
          <a:off x="4424516" y="2303822"/>
          <a:ext cx="4129550" cy="38806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1613">
                  <a:extLst>
                    <a:ext uri="{9D8B030D-6E8A-4147-A177-3AD203B41FA5}">
                      <a16:colId xmlns:a16="http://schemas.microsoft.com/office/drawing/2014/main" val="623653218"/>
                    </a:ext>
                  </a:extLst>
                </a:gridCol>
                <a:gridCol w="1252405">
                  <a:extLst>
                    <a:ext uri="{9D8B030D-6E8A-4147-A177-3AD203B41FA5}">
                      <a16:colId xmlns:a16="http://schemas.microsoft.com/office/drawing/2014/main" val="4248579771"/>
                    </a:ext>
                  </a:extLst>
                </a:gridCol>
                <a:gridCol w="1895532">
                  <a:extLst>
                    <a:ext uri="{9D8B030D-6E8A-4147-A177-3AD203B41FA5}">
                      <a16:colId xmlns:a16="http://schemas.microsoft.com/office/drawing/2014/main" val="1538718689"/>
                    </a:ext>
                  </a:extLst>
                </a:gridCol>
              </a:tblGrid>
              <a:tr h="76120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 clé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Valeur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Message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1191383106"/>
                  </a:ext>
                </a:extLst>
              </a:tr>
              <a:tr h="7612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144 k€</a:t>
                      </a:r>
                      <a:endParaRPr lang="fr-FR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Montée du segment premium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460189198"/>
                  </a:ext>
                </a:extLst>
              </a:tr>
              <a:tr h="7612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valorisé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298 k€</a:t>
                      </a:r>
                      <a:endParaRPr lang="fr-F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10 % dormant &gt; 24 mois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023571012"/>
                  </a:ext>
                </a:extLst>
              </a:tr>
              <a:tr h="7612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Références actives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52 % = 80 % du CA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329759617"/>
                  </a:ext>
                </a:extLst>
              </a:tr>
              <a:tr h="83583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Produits déficitaires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</a:t>
                      </a:r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à faire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9015246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421" y="2113934"/>
            <a:ext cx="7816644" cy="1040429"/>
          </a:xfrm>
        </p:spPr>
        <p:txBody>
          <a:bodyPr>
            <a:normAutofit/>
          </a:bodyPr>
          <a:lstStyle/>
          <a:p>
            <a:r>
              <a:rPr lang="fr-FR" dirty="0"/>
              <a:t>Nous avons construit un mini-ETL en Python : import, contrôle qualité, corrections, jointure puis export. Chaque étape est tracée dans un log pour être rejouée automatiquement</a:t>
            </a:r>
            <a:endParaRPr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479D60-AFD4-4670-FB06-290DDFB0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6E83FD9-0055-A43A-8636-215077676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112154"/>
              </p:ext>
            </p:extLst>
          </p:nvPr>
        </p:nvGraphicFramePr>
        <p:xfrm>
          <a:off x="737420" y="3264309"/>
          <a:ext cx="7732504" cy="31561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7007">
                  <a:extLst>
                    <a:ext uri="{9D8B030D-6E8A-4147-A177-3AD203B41FA5}">
                      <a16:colId xmlns:a16="http://schemas.microsoft.com/office/drawing/2014/main" val="1910748313"/>
                    </a:ext>
                  </a:extLst>
                </a:gridCol>
                <a:gridCol w="1922732">
                  <a:extLst>
                    <a:ext uri="{9D8B030D-6E8A-4147-A177-3AD203B41FA5}">
                      <a16:colId xmlns:a16="http://schemas.microsoft.com/office/drawing/2014/main" val="3552089129"/>
                    </a:ext>
                  </a:extLst>
                </a:gridCol>
                <a:gridCol w="1987835">
                  <a:extLst>
                    <a:ext uri="{9D8B030D-6E8A-4147-A177-3AD203B41FA5}">
                      <a16:colId xmlns:a16="http://schemas.microsoft.com/office/drawing/2014/main" val="1381095485"/>
                    </a:ext>
                  </a:extLst>
                </a:gridCol>
                <a:gridCol w="2314930">
                  <a:extLst>
                    <a:ext uri="{9D8B030D-6E8A-4147-A177-3AD203B41FA5}">
                      <a16:colId xmlns:a16="http://schemas.microsoft.com/office/drawing/2014/main" val="3300059999"/>
                    </a:ext>
                  </a:extLst>
                </a:gridCol>
              </a:tblGrid>
              <a:tr h="823344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Fichier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Contenu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Volume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Contrôles appliqués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extLst>
                  <a:ext uri="{0D108BD9-81ED-4DB2-BD59-A6C34878D82A}">
                    <a16:rowId xmlns:a16="http://schemas.microsoft.com/office/drawing/2014/main" val="2066325505"/>
                  </a:ext>
                </a:extLst>
              </a:tr>
              <a:tr h="686121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erp.xlsx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Stock, prix, coût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 lignes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&gt; 0, stock ≥ 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extLst>
                  <a:ext uri="{0D108BD9-81ED-4DB2-BD59-A6C34878D82A}">
                    <a16:rowId xmlns:a16="http://schemas.microsoft.com/office/drawing/2014/main" val="2210791476"/>
                  </a:ext>
                </a:extLst>
              </a:tr>
              <a:tr h="123501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web.xlsx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Ventes, notes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1 513 lignes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SKU présent, lignes dupliquées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extLst>
                  <a:ext uri="{0D108BD9-81ED-4DB2-BD59-A6C34878D82A}">
                    <a16:rowId xmlns:a16="http://schemas.microsoft.com/office/drawing/2014/main" val="140502147"/>
                  </a:ext>
                </a:extLst>
              </a:tr>
              <a:tr h="411672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liaison.xlsx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Mapping SKU ↔ ID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 lignes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Unicité clé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27089" marR="3010" marT="3010" marB="0" anchor="ctr"/>
                </a:tc>
                <a:extLst>
                  <a:ext uri="{0D108BD9-81ED-4DB2-BD59-A6C34878D82A}">
                    <a16:rowId xmlns:a16="http://schemas.microsoft.com/office/drawing/2014/main" val="7193763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341483"/>
            <a:ext cx="7214370" cy="1459148"/>
          </a:xfrm>
        </p:spPr>
        <p:txBody>
          <a:bodyPr>
            <a:normAutofit/>
          </a:bodyPr>
          <a:lstStyle/>
          <a:p>
            <a:r>
              <a:rPr lang="fr-FR" dirty="0"/>
              <a:t>Un audit qualité a relevé 190 anomalies initiales. Après traitement, la base est fiable à </a:t>
            </a:r>
            <a:r>
              <a:rPr lang="fr-FR" b="1" dirty="0"/>
              <a:t>99,6 %</a:t>
            </a:r>
            <a:r>
              <a:rPr lang="fr-FR" dirty="0"/>
              <a:t>. Les 0,4 % restants (91 produits sans match) sont mis de côté pour action métier.</a:t>
            </a:r>
            <a:endParaRPr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85377B-D1DE-E8F2-84AF-CC32AAEE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3C33133-AC33-06D9-38CB-01814A63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294804" cy="709865"/>
          </a:xfrm>
        </p:spPr>
        <p:txBody>
          <a:bodyPr/>
          <a:lstStyle/>
          <a:p>
            <a:r>
              <a:rPr lang="fr-FR" dirty="0"/>
              <a:t>Qualité des données : avant / après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D66F494-C2A2-7FEC-A0C0-165F4C124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46631"/>
              </p:ext>
            </p:extLst>
          </p:nvPr>
        </p:nvGraphicFramePr>
        <p:xfrm>
          <a:off x="766916" y="3800631"/>
          <a:ext cx="7703007" cy="22658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5781">
                  <a:extLst>
                    <a:ext uri="{9D8B030D-6E8A-4147-A177-3AD203B41FA5}">
                      <a16:colId xmlns:a16="http://schemas.microsoft.com/office/drawing/2014/main" val="2326163119"/>
                    </a:ext>
                  </a:extLst>
                </a:gridCol>
                <a:gridCol w="2025445">
                  <a:extLst>
                    <a:ext uri="{9D8B030D-6E8A-4147-A177-3AD203B41FA5}">
                      <a16:colId xmlns:a16="http://schemas.microsoft.com/office/drawing/2014/main" val="244752922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2380239560"/>
                    </a:ext>
                  </a:extLst>
                </a:gridCol>
                <a:gridCol w="1872478">
                  <a:extLst>
                    <a:ext uri="{9D8B030D-6E8A-4147-A177-3AD203B41FA5}">
                      <a16:colId xmlns:a16="http://schemas.microsoft.com/office/drawing/2014/main" val="3800660285"/>
                    </a:ext>
                  </a:extLst>
                </a:gridCol>
              </a:tblGrid>
              <a:tr h="377645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Problème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 avant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 après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extLst>
                  <a:ext uri="{0D108BD9-81ED-4DB2-BD59-A6C34878D82A}">
                    <a16:rowId xmlns:a16="http://schemas.microsoft.com/office/drawing/2014/main" val="1296335390"/>
                  </a:ext>
                </a:extLst>
              </a:tr>
              <a:tr h="377645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Doublons SKU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Suppression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extLst>
                  <a:ext uri="{0D108BD9-81ED-4DB2-BD59-A6C34878D82A}">
                    <a16:rowId xmlns:a16="http://schemas.microsoft.com/office/drawing/2014/main" val="3307937174"/>
                  </a:ext>
                </a:extLst>
              </a:tr>
              <a:tr h="377645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négatif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Correction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extLst>
                  <a:ext uri="{0D108BD9-81ED-4DB2-BD59-A6C34878D82A}">
                    <a16:rowId xmlns:a16="http://schemas.microsoft.com/office/drawing/2014/main" val="2695363998"/>
                  </a:ext>
                </a:extLst>
              </a:tr>
              <a:tr h="377645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négatif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Correction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extLst>
                  <a:ext uri="{0D108BD9-81ED-4DB2-BD59-A6C34878D82A}">
                    <a16:rowId xmlns:a16="http://schemas.microsoft.com/office/drawing/2014/main" val="3968148701"/>
                  </a:ext>
                </a:extLst>
              </a:tr>
              <a:tr h="755291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Lignes sans SKU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Exclusion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46066" marR="5118" marT="5118" marB="0" anchor="ctr"/>
                </a:tc>
                <a:extLst>
                  <a:ext uri="{0D108BD9-81ED-4DB2-BD59-A6C34878D82A}">
                    <a16:rowId xmlns:a16="http://schemas.microsoft.com/office/drawing/2014/main" val="33592758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325158"/>
            <a:ext cx="3400536" cy="3854979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Le nettoyage s’est déroulé en cinq passes successives, afin de corriger les erreurs sans jamais perdre l’historique</a:t>
            </a:r>
          </a:p>
          <a:p>
            <a:endParaRPr lang="fr-FR" dirty="0"/>
          </a:p>
          <a:p>
            <a:r>
              <a:rPr lang="fr-FR" dirty="0"/>
              <a:t>Chaque passe génère un fichier log qui liste les lignes modifiées ou supprimées</a:t>
            </a:r>
            <a:endParaRPr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886655-4ABA-520F-13D6-82CF54FD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C6A25FA2-CA67-9704-3E26-87C3E3E8E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67290"/>
              </p:ext>
            </p:extLst>
          </p:nvPr>
        </p:nvGraphicFramePr>
        <p:xfrm>
          <a:off x="4050890" y="2325158"/>
          <a:ext cx="4419035" cy="430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7084">
                  <a:extLst>
                    <a:ext uri="{9D8B030D-6E8A-4147-A177-3AD203B41FA5}">
                      <a16:colId xmlns:a16="http://schemas.microsoft.com/office/drawing/2014/main" val="1536642995"/>
                    </a:ext>
                  </a:extLst>
                </a:gridCol>
                <a:gridCol w="2015613">
                  <a:extLst>
                    <a:ext uri="{9D8B030D-6E8A-4147-A177-3AD203B41FA5}">
                      <a16:colId xmlns:a16="http://schemas.microsoft.com/office/drawing/2014/main" val="3456340808"/>
                    </a:ext>
                  </a:extLst>
                </a:gridCol>
                <a:gridCol w="1646338">
                  <a:extLst>
                    <a:ext uri="{9D8B030D-6E8A-4147-A177-3AD203B41FA5}">
                      <a16:colId xmlns:a16="http://schemas.microsoft.com/office/drawing/2014/main" val="1189017969"/>
                    </a:ext>
                  </a:extLst>
                </a:gridCol>
              </a:tblGrid>
              <a:tr h="41918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Règle appliquée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Nombre de lignes corrigées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4105223555"/>
                  </a:ext>
                </a:extLst>
              </a:tr>
              <a:tr h="89110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Suppression doublons SKU dans web.xlsx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90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688575041"/>
                  </a:ext>
                </a:extLst>
              </a:tr>
              <a:tr h="53673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Suppression lignes sans SKU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85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24733824"/>
                  </a:ext>
                </a:extLst>
              </a:tr>
              <a:tr h="89110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négatifs → </a:t>
                      </a:r>
                    </a:p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= abs(valeur)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1135640673"/>
                  </a:ext>
                </a:extLst>
              </a:tr>
              <a:tr h="53673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négatif → </a:t>
                      </a:r>
                    </a:p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= 0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291916356"/>
                  </a:ext>
                </a:extLst>
              </a:tr>
              <a:tr h="891107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Vérif. type de données (int, float, date)</a:t>
                      </a:r>
                      <a:endParaRPr lang="fr-FR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6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fr-F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556720532"/>
                  </a:ext>
                </a:extLst>
              </a:tr>
            </a:tbl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id="{29293CA0-8E29-CCE6-F4C4-7CF3A555B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>
            <a:normAutofit fontScale="90000"/>
          </a:bodyPr>
          <a:lstStyle/>
          <a:p>
            <a:r>
              <a:rPr lang="fr-FR" dirty="0"/>
              <a:t>Étapes de nettoyage détaillées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Fusion et structure du fichier final</a:t>
            </a:r>
            <a:endParaRPr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F0F0610-D91D-0CBE-DC45-B10F7FBEC1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697" y="2258861"/>
            <a:ext cx="825801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Une fois les données propres, nous avons fusionné les trois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sources pour obtenir un seul fichier d’analyse :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df_final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La clé unique est le couple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product_id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id_web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garantissant l’unicité des lignes. 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A664DFFC-B7D6-66A4-FDA7-77F1902D3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579" y="5004421"/>
            <a:ext cx="737930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de </a:t>
            </a:r>
            <a:r>
              <a:rPr kumimoji="0" lang="fr-FR" altLang="fr-F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df_final</a:t>
            </a: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fr-FR" altLang="fr-FR" sz="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825 lignes × 17 colonnes.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variables stock (quantité, statut, coût).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variables vente (prix, quantité vendue, date,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 variables calculées (CA, marge, rotation, flags qualité).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A5052D-17ED-631A-F546-B491F1607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8E2F6B5-0ECA-AE44-41B0-7B4321028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623708"/>
              </p:ext>
            </p:extLst>
          </p:nvPr>
        </p:nvGraphicFramePr>
        <p:xfrm>
          <a:off x="1251104" y="3281413"/>
          <a:ext cx="6346825" cy="17773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8671">
                  <a:extLst>
                    <a:ext uri="{9D8B030D-6E8A-4147-A177-3AD203B41FA5}">
                      <a16:colId xmlns:a16="http://schemas.microsoft.com/office/drawing/2014/main" val="4290635619"/>
                    </a:ext>
                  </a:extLst>
                </a:gridCol>
                <a:gridCol w="1924857">
                  <a:extLst>
                    <a:ext uri="{9D8B030D-6E8A-4147-A177-3AD203B41FA5}">
                      <a16:colId xmlns:a16="http://schemas.microsoft.com/office/drawing/2014/main" val="1334844235"/>
                    </a:ext>
                  </a:extLst>
                </a:gridCol>
                <a:gridCol w="2913297">
                  <a:extLst>
                    <a:ext uri="{9D8B030D-6E8A-4147-A177-3AD203B41FA5}">
                      <a16:colId xmlns:a16="http://schemas.microsoft.com/office/drawing/2014/main" val="2059905610"/>
                    </a:ext>
                  </a:extLst>
                </a:gridCol>
              </a:tblGrid>
              <a:tr h="287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Clé utilisée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Lignes après nettoyage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1968705735"/>
                  </a:ext>
                </a:extLst>
              </a:tr>
              <a:tr h="28716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erp.xlsx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product_id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299933888"/>
                  </a:ext>
                </a:extLst>
              </a:tr>
              <a:tr h="57433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web.xlsx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id_web (ex-SKU)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714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139717939"/>
                  </a:ext>
                </a:extLst>
              </a:tr>
              <a:tr h="57433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liaison.xlsx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product_id + id_web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825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18836541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155" y="2206681"/>
            <a:ext cx="8083735" cy="928084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tx1"/>
                </a:solidFill>
              </a:rPr>
              <a:t>Le chiffre d’affaires d’octobre atteint </a:t>
            </a:r>
            <a:r>
              <a:rPr lang="fr-FR" b="1" dirty="0">
                <a:solidFill>
                  <a:schemeClr val="tx1"/>
                </a:solidFill>
              </a:rPr>
              <a:t>153 353 €</a:t>
            </a:r>
            <a:r>
              <a:rPr lang="fr-FR" dirty="0">
                <a:solidFill>
                  <a:schemeClr val="tx1"/>
                </a:solidFill>
              </a:rPr>
              <a:t>. La courbe cumulée montre qu’à partir de la 434ᵉ référence (52% du catalogue) nous avons déjà 80 % du CA : la gamme est donc trop large pour la valeur créée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A07B63D-6AE0-DF22-837B-490527AD46BC}"/>
              </a:ext>
            </a:extLst>
          </p:cNvPr>
          <p:cNvSpPr txBox="1"/>
          <p:nvPr/>
        </p:nvSpPr>
        <p:spPr>
          <a:xfrm>
            <a:off x="244578" y="5600055"/>
            <a:ext cx="45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Chiffre d'affaires global:</a:t>
            </a:r>
          </a:p>
          <a:p>
            <a:r>
              <a:rPr lang="fr-FR" dirty="0"/>
              <a:t>143 680,10€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0E995E7-3B5E-E602-F90E-2B9CF836FA3E}"/>
              </a:ext>
            </a:extLst>
          </p:cNvPr>
          <p:cNvSpPr txBox="1"/>
          <p:nvPr/>
        </p:nvSpPr>
        <p:spPr>
          <a:xfrm>
            <a:off x="4224236" y="5600056"/>
            <a:ext cx="4576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434 articles suffisent à générer 80 % du CA (soit 52,6% du catalogue).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E4C08E-1D63-BF32-13FB-222745845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F179FFD-2C67-72E1-B5DD-91CE4120B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4705413"/>
              </p:ext>
            </p:extLst>
          </p:nvPr>
        </p:nvGraphicFramePr>
        <p:xfrm>
          <a:off x="539155" y="3343775"/>
          <a:ext cx="8083734" cy="20645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7503">
                  <a:extLst>
                    <a:ext uri="{9D8B030D-6E8A-4147-A177-3AD203B41FA5}">
                      <a16:colId xmlns:a16="http://schemas.microsoft.com/office/drawing/2014/main" val="3687145442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59651088"/>
                    </a:ext>
                  </a:extLst>
                </a:gridCol>
                <a:gridCol w="3205315">
                  <a:extLst>
                    <a:ext uri="{9D8B030D-6E8A-4147-A177-3AD203B41FA5}">
                      <a16:colId xmlns:a16="http://schemas.microsoft.com/office/drawing/2014/main" val="768630403"/>
                    </a:ext>
                  </a:extLst>
                </a:gridCol>
              </a:tblGrid>
              <a:tr h="28716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Indicateur</a:t>
                      </a:r>
                      <a:endParaRPr lang="fr-FR" sz="22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Valeur</a:t>
                      </a:r>
                      <a:endParaRPr lang="fr-FR" sz="22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Commentaire</a:t>
                      </a:r>
                      <a:endParaRPr lang="fr-FR" sz="22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696173445"/>
                  </a:ext>
                </a:extLst>
              </a:tr>
              <a:tr h="28716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 total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153 353 €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+6 % vs. 2024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808836976"/>
                  </a:ext>
                </a:extLst>
              </a:tr>
              <a:tr h="57433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Top 10 produits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43 000 €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28 % du CA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859384366"/>
                  </a:ext>
                </a:extLst>
              </a:tr>
              <a:tr h="57433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Réf. 1 → 419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122 000 €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80 % du CA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2222891191"/>
                  </a:ext>
                </a:extLst>
              </a:tr>
              <a:tr h="28716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Long tail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31 000 €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20 % du CA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85" marR="6243" marT="6243" marB="0" anchor="ctr"/>
                </a:tc>
                <a:extLst>
                  <a:ext uri="{0D108BD9-81ED-4DB2-BD59-A6C34878D82A}">
                    <a16:rowId xmlns:a16="http://schemas.microsoft.com/office/drawing/2014/main" val="3795736459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D0273D30-C736-EC3F-ECAF-250276975ED0}"/>
              </a:ext>
            </a:extLst>
          </p:cNvPr>
          <p:cNvSpPr txBox="1">
            <a:spLocks/>
          </p:cNvSpPr>
          <p:nvPr/>
        </p:nvSpPr>
        <p:spPr bwMode="gray">
          <a:xfrm>
            <a:off x="865970" y="927098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Chiffre d’affaires : détails produits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CD5DD5B-D750-0C07-9DB7-0ED605AA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1"/>
          <a:stretch/>
        </p:blipFill>
        <p:spPr>
          <a:xfrm>
            <a:off x="720003" y="2645649"/>
            <a:ext cx="7749921" cy="339212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EB67756-5292-C240-5826-4E26A7889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B8E164-4B15-8297-D6DC-F1275E030148}"/>
              </a:ext>
            </a:extLst>
          </p:cNvPr>
          <p:cNvSpPr txBox="1">
            <a:spLocks/>
          </p:cNvSpPr>
          <p:nvPr/>
        </p:nvSpPr>
        <p:spPr bwMode="gray">
          <a:xfrm>
            <a:off x="865970" y="927098"/>
            <a:ext cx="634367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Top 10 Articles par CA</a:t>
            </a:r>
          </a:p>
        </p:txBody>
      </p:sp>
    </p:spTree>
    <p:extLst>
      <p:ext uri="{BB962C8B-B14F-4D97-AF65-F5344CB8AC3E}">
        <p14:creationId xmlns:p14="http://schemas.microsoft.com/office/powerpoint/2010/main" val="191755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Volumes de Vente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79" y="2311543"/>
            <a:ext cx="6345260" cy="3530600"/>
          </a:xfrm>
        </p:spPr>
        <p:txBody>
          <a:bodyPr/>
          <a:lstStyle/>
          <a:p>
            <a:endParaRPr dirty="0"/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Total ventes : </a:t>
            </a:r>
            <a:r>
              <a:rPr lang="fr-FR" sz="1600" dirty="0">
                <a:solidFill>
                  <a:schemeClr val="tx1"/>
                </a:solidFill>
              </a:rPr>
              <a:t>5751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unités</a:t>
            </a:r>
            <a:endParaRPr lang="fr-FR" sz="1600" dirty="0">
              <a:solidFill>
                <a:schemeClr val="tx1"/>
              </a:solidFill>
            </a:endParaRPr>
          </a:p>
          <a:p>
            <a:pPr>
              <a:defRPr sz="1400"/>
            </a:pPr>
            <a:endParaRPr sz="16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4</a:t>
            </a:r>
            <a:r>
              <a:rPr lang="fr-FR" sz="1600" dirty="0">
                <a:solidFill>
                  <a:schemeClr val="tx1"/>
                </a:solidFill>
              </a:rPr>
              <a:t>33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produits</a:t>
            </a:r>
            <a:r>
              <a:rPr sz="1600" dirty="0">
                <a:solidFill>
                  <a:schemeClr val="tx1"/>
                </a:solidFill>
              </a:rPr>
              <a:t> = 80 % des volumes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E8295CA-13F4-0552-C846-8D2E2657B510}"/>
              </a:ext>
            </a:extLst>
          </p:cNvPr>
          <p:cNvSpPr txBox="1"/>
          <p:nvPr/>
        </p:nvSpPr>
        <p:spPr>
          <a:xfrm>
            <a:off x="865970" y="4032556"/>
            <a:ext cx="6602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Nous avons écoulé </a:t>
            </a:r>
            <a:r>
              <a:rPr lang="fr-FR" b="1" dirty="0"/>
              <a:t>5751 bouteilles</a:t>
            </a:r>
            <a:r>
              <a:rPr lang="fr-FR" dirty="0"/>
              <a:t>. Les vins entre 15 € et 25 € dominent en volume, ils constituent une base idéale pour proposer un second achat ou un carton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BAB41D-0A1E-B7BF-4F70-95BB6E4666E8}"/>
              </a:ext>
            </a:extLst>
          </p:cNvPr>
          <p:cNvSpPr txBox="1"/>
          <p:nvPr/>
        </p:nvSpPr>
        <p:spPr>
          <a:xfrm>
            <a:off x="858679" y="5164677"/>
            <a:ext cx="6077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433 articles concentrent 80% des ventes en quantités(52.5% du catalogue)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94E783-0756-0E04-E3C3-85B7E41C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C796D2F-C4AE-0AD8-7857-27E54C9192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69"/>
          <a:stretch/>
        </p:blipFill>
        <p:spPr>
          <a:xfrm>
            <a:off x="1014972" y="2487561"/>
            <a:ext cx="6850836" cy="335113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8C64F86-C629-86F1-54C7-5189DE4B9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1480B4E-1E83-86E8-D7EF-8CAF1C23C48D}"/>
              </a:ext>
            </a:extLst>
          </p:cNvPr>
          <p:cNvSpPr txBox="1">
            <a:spLocks/>
          </p:cNvSpPr>
          <p:nvPr/>
        </p:nvSpPr>
        <p:spPr bwMode="gray">
          <a:xfrm>
            <a:off x="865970" y="927098"/>
            <a:ext cx="6850836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Top 10 Articles par quantités vendues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Valorisation du Stock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2"/>
            <a:ext cx="6446520" cy="2247088"/>
          </a:xfrm>
        </p:spPr>
        <p:txBody>
          <a:bodyPr>
            <a:normAutofit/>
          </a:bodyPr>
          <a:lstStyle/>
          <a:p>
            <a:endParaRPr dirty="0">
              <a:solidFill>
                <a:schemeClr val="tx1"/>
              </a:solidFill>
            </a:endParaRPr>
          </a:p>
          <a:p>
            <a:pPr marL="0" indent="0">
              <a:buNone/>
              <a:defRPr sz="1400"/>
            </a:pPr>
            <a:r>
              <a:rPr lang="fr-FR" sz="1600" dirty="0">
                <a:solidFill>
                  <a:schemeClr val="tx1"/>
                </a:solidFill>
              </a:rPr>
              <a:t>Le stock immobilise </a:t>
            </a:r>
            <a:r>
              <a:rPr lang="fr-FR" sz="1600" b="1" dirty="0">
                <a:solidFill>
                  <a:schemeClr val="tx1"/>
                </a:solidFill>
              </a:rPr>
              <a:t>298 628 €</a:t>
            </a:r>
            <a:r>
              <a:rPr lang="fr-FR" sz="1600" dirty="0">
                <a:solidFill>
                  <a:schemeClr val="tx1"/>
                </a:solidFill>
              </a:rPr>
              <a:t>. Un stock dormant (10 %) reste invendu depuis plus de 24 mois ; la rotation moyenne est de 11 mois, au-dessus de l’objectif de 9 mois</a:t>
            </a:r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Stock physique : 17,8</a:t>
            </a:r>
            <a:r>
              <a:rPr lang="fr-FR" sz="1600" dirty="0">
                <a:solidFill>
                  <a:schemeClr val="tx1"/>
                </a:solidFill>
              </a:rPr>
              <a:t>22</a:t>
            </a:r>
            <a:r>
              <a:rPr sz="1600" dirty="0">
                <a:solidFill>
                  <a:schemeClr val="tx1"/>
                </a:solidFill>
              </a:rPr>
              <a:t> </a:t>
            </a:r>
            <a:r>
              <a:rPr sz="1600" dirty="0" err="1">
                <a:solidFill>
                  <a:schemeClr val="tx1"/>
                </a:solidFill>
              </a:rPr>
              <a:t>unités</a:t>
            </a:r>
            <a:endParaRPr sz="16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Valeur financière : 298,</a:t>
            </a:r>
            <a:r>
              <a:rPr lang="fr-FR" sz="1600" dirty="0">
                <a:solidFill>
                  <a:schemeClr val="tx1"/>
                </a:solidFill>
              </a:rPr>
              <a:t>628</a:t>
            </a:r>
            <a:r>
              <a:rPr sz="1600" dirty="0">
                <a:solidFill>
                  <a:schemeClr val="tx1"/>
                </a:solidFill>
              </a:rPr>
              <a:t> €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12CCDB-CBD9-997B-4C35-C5CF135C3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320976C7-7311-F58D-5F2E-AD8C3240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823694"/>
              </p:ext>
            </p:extLst>
          </p:nvPr>
        </p:nvGraphicFramePr>
        <p:xfrm>
          <a:off x="582511" y="3944733"/>
          <a:ext cx="7755244" cy="22470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45824">
                  <a:extLst>
                    <a:ext uri="{9D8B030D-6E8A-4147-A177-3AD203B41FA5}">
                      <a16:colId xmlns:a16="http://schemas.microsoft.com/office/drawing/2014/main" val="893236123"/>
                    </a:ext>
                  </a:extLst>
                </a:gridCol>
                <a:gridCol w="2399071">
                  <a:extLst>
                    <a:ext uri="{9D8B030D-6E8A-4147-A177-3AD203B41FA5}">
                      <a16:colId xmlns:a16="http://schemas.microsoft.com/office/drawing/2014/main" val="940438564"/>
                    </a:ext>
                  </a:extLst>
                </a:gridCol>
                <a:gridCol w="2910349">
                  <a:extLst>
                    <a:ext uri="{9D8B030D-6E8A-4147-A177-3AD203B41FA5}">
                      <a16:colId xmlns:a16="http://schemas.microsoft.com/office/drawing/2014/main" val="3582193838"/>
                    </a:ext>
                  </a:extLst>
                </a:gridCol>
              </a:tblGrid>
              <a:tr h="374514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 stock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Valeur</a:t>
                      </a:r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649753024"/>
                  </a:ext>
                </a:extLst>
              </a:tr>
              <a:tr h="37451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Valeur totale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298 k€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Suivi mensuel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186841614"/>
                  </a:ext>
                </a:extLst>
              </a:tr>
              <a:tr h="37451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&gt; 24 m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 k€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Vente privée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2230933743"/>
                  </a:ext>
                </a:extLst>
              </a:tr>
              <a:tr h="374514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Flop 10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36-48 mois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Solde / retrait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684808549"/>
                  </a:ext>
                </a:extLst>
              </a:tr>
              <a:tr h="749030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Rotation moyenne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mois</a:t>
                      </a:r>
                      <a:endParaRPr lang="fr-FR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Cible &lt; 9 mois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20169972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Marges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892" y="2328024"/>
            <a:ext cx="8088501" cy="1964986"/>
          </a:xfrm>
        </p:spPr>
        <p:txBody>
          <a:bodyPr>
            <a:normAutofit/>
          </a:bodyPr>
          <a:lstStyle/>
          <a:p>
            <a:pPr marL="0" indent="0">
              <a:buNone/>
              <a:defRPr sz="1400"/>
            </a:pPr>
            <a:r>
              <a:rPr lang="fr-FR" sz="1600" dirty="0">
                <a:solidFill>
                  <a:schemeClr val="tx1"/>
                </a:solidFill>
              </a:rPr>
              <a:t>La marge brute moyenne reste solide (37 %), mais quatre références sont vendues à perte À l’inverse, les cognacs affichent +45 % de marge</a:t>
            </a:r>
          </a:p>
          <a:p>
            <a:pPr marL="0" indent="0">
              <a:buNone/>
              <a:defRPr sz="1400"/>
            </a:pPr>
            <a:endParaRPr lang="fr-FR" sz="16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Marge </a:t>
            </a:r>
            <a:r>
              <a:rPr sz="1600" dirty="0" err="1">
                <a:solidFill>
                  <a:schemeClr val="tx1"/>
                </a:solidFill>
              </a:rPr>
              <a:t>moyenne</a:t>
            </a:r>
            <a:r>
              <a:rPr sz="1600" dirty="0">
                <a:solidFill>
                  <a:schemeClr val="tx1"/>
                </a:solidFill>
              </a:rPr>
              <a:t> : 3</a:t>
            </a:r>
            <a:r>
              <a:rPr lang="fr-FR" sz="1600" dirty="0">
                <a:solidFill>
                  <a:schemeClr val="tx1"/>
                </a:solidFill>
              </a:rPr>
              <a:t>6</a:t>
            </a:r>
            <a:r>
              <a:rPr sz="1600" dirty="0">
                <a:solidFill>
                  <a:schemeClr val="tx1"/>
                </a:solidFill>
              </a:rPr>
              <a:t>.</a:t>
            </a:r>
            <a:r>
              <a:rPr lang="fr-FR" sz="1600" dirty="0">
                <a:solidFill>
                  <a:schemeClr val="tx1"/>
                </a:solidFill>
              </a:rPr>
              <a:t>79</a:t>
            </a:r>
            <a:r>
              <a:rPr sz="1600" dirty="0">
                <a:solidFill>
                  <a:schemeClr val="tx1"/>
                </a:solidFill>
              </a:rPr>
              <a:t>%</a:t>
            </a:r>
          </a:p>
          <a:p>
            <a:pPr>
              <a:defRPr sz="1400"/>
            </a:pPr>
            <a:r>
              <a:rPr sz="1600" dirty="0">
                <a:solidFill>
                  <a:schemeClr val="tx1"/>
                </a:solidFill>
              </a:rPr>
              <a:t>4 </a:t>
            </a:r>
            <a:r>
              <a:rPr sz="1600" dirty="0" err="1">
                <a:solidFill>
                  <a:schemeClr val="tx1"/>
                </a:solidFill>
              </a:rPr>
              <a:t>produits</a:t>
            </a:r>
            <a:r>
              <a:rPr sz="1600" dirty="0">
                <a:solidFill>
                  <a:schemeClr val="tx1"/>
                </a:solidFill>
              </a:rPr>
              <a:t> à marge </a:t>
            </a:r>
            <a:r>
              <a:rPr sz="1600" dirty="0" err="1">
                <a:solidFill>
                  <a:schemeClr val="tx1"/>
                </a:solidFill>
              </a:rPr>
              <a:t>négative</a:t>
            </a:r>
            <a:r>
              <a:rPr sz="1600" dirty="0">
                <a:solidFill>
                  <a:schemeClr val="tx1"/>
                </a:solidFill>
              </a:rPr>
              <a:t> -&gt; actions </a:t>
            </a:r>
            <a:r>
              <a:rPr sz="1600" dirty="0" err="1">
                <a:solidFill>
                  <a:schemeClr val="tx1"/>
                </a:solidFill>
              </a:rPr>
              <a:t>tarifaires</a:t>
            </a:r>
            <a:r>
              <a:rPr lang="fr-FR" sz="1600" dirty="0">
                <a:solidFill>
                  <a:schemeClr val="tx1"/>
                </a:solidFill>
              </a:rPr>
              <a:t> :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E932B71-2922-E040-3B36-63A5D4E5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7A41D80A-DE5B-12BC-9C4F-4FBFA96AB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761960"/>
              </p:ext>
            </p:extLst>
          </p:nvPr>
        </p:nvGraphicFramePr>
        <p:xfrm>
          <a:off x="648929" y="4236475"/>
          <a:ext cx="7846141" cy="21865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4542">
                  <a:extLst>
                    <a:ext uri="{9D8B030D-6E8A-4147-A177-3AD203B41FA5}">
                      <a16:colId xmlns:a16="http://schemas.microsoft.com/office/drawing/2014/main" val="1076549884"/>
                    </a:ext>
                  </a:extLst>
                </a:gridCol>
                <a:gridCol w="2035277">
                  <a:extLst>
                    <a:ext uri="{9D8B030D-6E8A-4147-A177-3AD203B41FA5}">
                      <a16:colId xmlns:a16="http://schemas.microsoft.com/office/drawing/2014/main" val="1191183909"/>
                    </a:ext>
                  </a:extLst>
                </a:gridCol>
                <a:gridCol w="3146322">
                  <a:extLst>
                    <a:ext uri="{9D8B030D-6E8A-4147-A177-3AD203B41FA5}">
                      <a16:colId xmlns:a16="http://schemas.microsoft.com/office/drawing/2014/main" val="3033455742"/>
                    </a:ext>
                  </a:extLst>
                </a:gridCol>
              </a:tblGrid>
              <a:tr h="375548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Produit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Marge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Décision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536907311"/>
                  </a:ext>
                </a:extLst>
              </a:tr>
              <a:tr h="610265"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Champagne Egly (Noirs)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635 %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</a:t>
                      </a:r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immédiat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388306448"/>
                  </a:ext>
                </a:extLst>
              </a:tr>
              <a:tr h="305133"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Rosé A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44 %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Réviser prix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592374622"/>
                  </a:ext>
                </a:extLst>
              </a:tr>
              <a:tr h="305133"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Rosé B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29 %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Réviser prix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2967013555"/>
                  </a:ext>
                </a:extLst>
              </a:tr>
              <a:tr h="295401"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Vin C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– 21 %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Réviser prix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3848841826"/>
                  </a:ext>
                </a:extLst>
              </a:tr>
              <a:tr h="295068"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Cognac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+ 45%</a:t>
                      </a: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marL="0" algn="l" defTabSz="457200" rtl="0" eaLnBrk="1" fontAlgn="ctr" latinLnBrk="0" hangingPunct="1"/>
                      <a:r>
                        <a:rPr lang="fr-F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Mettre en avant</a:t>
                      </a: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26331364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Analyse des Corrélations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08C26D-B09F-7DF4-BC6C-414CAB29C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" y="2575919"/>
            <a:ext cx="4470914" cy="361583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05AD667-51C1-1E50-C562-4DEAB3FA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2E77BC2-7665-B0F4-662C-5127223A1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840065"/>
              </p:ext>
            </p:extLst>
          </p:nvPr>
        </p:nvGraphicFramePr>
        <p:xfrm>
          <a:off x="4483510" y="2575919"/>
          <a:ext cx="4647894" cy="37462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6642">
                  <a:extLst>
                    <a:ext uri="{9D8B030D-6E8A-4147-A177-3AD203B41FA5}">
                      <a16:colId xmlns:a16="http://schemas.microsoft.com/office/drawing/2014/main" val="2125720135"/>
                    </a:ext>
                  </a:extLst>
                </a:gridCol>
                <a:gridCol w="1411921">
                  <a:extLst>
                    <a:ext uri="{9D8B030D-6E8A-4147-A177-3AD203B41FA5}">
                      <a16:colId xmlns:a16="http://schemas.microsoft.com/office/drawing/2014/main" val="1563038697"/>
                    </a:ext>
                  </a:extLst>
                </a:gridCol>
                <a:gridCol w="2129331">
                  <a:extLst>
                    <a:ext uri="{9D8B030D-6E8A-4147-A177-3AD203B41FA5}">
                      <a16:colId xmlns:a16="http://schemas.microsoft.com/office/drawing/2014/main" val="166943736"/>
                    </a:ext>
                  </a:extLst>
                </a:gridCol>
              </a:tblGrid>
              <a:tr h="730196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Variables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Corrélation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8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Lecture claire</a:t>
                      </a:r>
                      <a:endParaRPr lang="fr-FR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980931281"/>
                  </a:ext>
                </a:extLst>
              </a:tr>
              <a:tr h="1206411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vs Ventes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–0,27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Plus c’est cher, moins on vend, </a:t>
                      </a:r>
                      <a:r>
                        <a:rPr lang="fr-FR" sz="15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79024062"/>
                  </a:ext>
                </a:extLst>
              </a:tr>
              <a:tr h="1206411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vs Ventes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0,29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 stocke ce qui se vend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630049795"/>
                  </a:ext>
                </a:extLst>
              </a:tr>
              <a:tr h="603205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Coût vs Prix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0,97</a:t>
                      </a:r>
                      <a:endParaRPr lang="fr-FR" sz="1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5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suit bien le coût d’achat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42870933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Points clés à retenir</a:t>
            </a:r>
            <a:endParaRPr lang="fr-FR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C4C62E40-AF5E-3CB6-5819-BB7156C5C9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773464"/>
              </p:ext>
            </p:extLst>
          </p:nvPr>
        </p:nvGraphicFramePr>
        <p:xfrm>
          <a:off x="946404" y="2201934"/>
          <a:ext cx="6446838" cy="1531620"/>
        </p:xfrm>
        <a:graphic>
          <a:graphicData uri="http://schemas.openxmlformats.org/drawingml/2006/table">
            <a:tbl>
              <a:tblPr/>
              <a:tblGrid>
                <a:gridCol w="2148946">
                  <a:extLst>
                    <a:ext uri="{9D8B030D-6E8A-4147-A177-3AD203B41FA5}">
                      <a16:colId xmlns:a16="http://schemas.microsoft.com/office/drawing/2014/main" val="815567339"/>
                    </a:ext>
                  </a:extLst>
                </a:gridCol>
                <a:gridCol w="2148946">
                  <a:extLst>
                    <a:ext uri="{9D8B030D-6E8A-4147-A177-3AD203B41FA5}">
                      <a16:colId xmlns:a16="http://schemas.microsoft.com/office/drawing/2014/main" val="854438426"/>
                    </a:ext>
                  </a:extLst>
                </a:gridCol>
                <a:gridCol w="2148946">
                  <a:extLst>
                    <a:ext uri="{9D8B030D-6E8A-4147-A177-3AD203B41FA5}">
                      <a16:colId xmlns:a16="http://schemas.microsoft.com/office/drawing/2014/main" val="4091054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230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306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9453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29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6858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849906"/>
                  </a:ext>
                </a:extLst>
              </a:tr>
            </a:tbl>
          </a:graphicData>
        </a:graphic>
      </p:graphicFrame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F6907BC-1431-6AE8-7A8B-2FBBB725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4A632C0-E704-7491-1B96-509B04381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418329"/>
              </p:ext>
            </p:extLst>
          </p:nvPr>
        </p:nvGraphicFramePr>
        <p:xfrm>
          <a:off x="727588" y="2532063"/>
          <a:ext cx="7742336" cy="35737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1922">
                  <a:extLst>
                    <a:ext uri="{9D8B030D-6E8A-4147-A177-3AD203B41FA5}">
                      <a16:colId xmlns:a16="http://schemas.microsoft.com/office/drawing/2014/main" val="945948127"/>
                    </a:ext>
                  </a:extLst>
                </a:gridCol>
                <a:gridCol w="2458064">
                  <a:extLst>
                    <a:ext uri="{9D8B030D-6E8A-4147-A177-3AD203B41FA5}">
                      <a16:colId xmlns:a16="http://schemas.microsoft.com/office/drawing/2014/main" val="1816937010"/>
                    </a:ext>
                  </a:extLst>
                </a:gridCol>
                <a:gridCol w="3052350">
                  <a:extLst>
                    <a:ext uri="{9D8B030D-6E8A-4147-A177-3AD203B41FA5}">
                      <a16:colId xmlns:a16="http://schemas.microsoft.com/office/drawing/2014/main" val="300824126"/>
                    </a:ext>
                  </a:extLst>
                </a:gridCol>
              </a:tblGrid>
              <a:tr h="114560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Axe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Constat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Opportunité immédiate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650291278"/>
                  </a:ext>
                </a:extLst>
              </a:tr>
              <a:tr h="97126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 concentré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51 % des </a:t>
                      </a:r>
                      <a:r>
                        <a:rPr lang="fr-FR" sz="18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refs</a:t>
                      </a:r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= 80 % CA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Focus marketing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3263032195"/>
                  </a:ext>
                </a:extLst>
              </a:tr>
              <a:tr h="485633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Stock dormant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32 k€ &gt; 24 m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Libérer trésorerie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1295089690"/>
                  </a:ext>
                </a:extLst>
              </a:tr>
              <a:tr h="97126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Produits à perte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20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références</a:t>
                      </a:r>
                      <a:endParaRPr lang="fr-F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</a:t>
                      </a:r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rapide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277" marR="6253" marT="6253" marB="0" anchor="ctr"/>
                </a:tc>
                <a:extLst>
                  <a:ext uri="{0D108BD9-81ED-4DB2-BD59-A6C34878D82A}">
                    <a16:rowId xmlns:a16="http://schemas.microsoft.com/office/drawing/2014/main" val="2298454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Data</a:t>
            </a:r>
            <a:endParaRPr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8E21D65-895C-DDBD-6FD7-8AEE59B36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7" name="Espace réservé du contenu 6">
            <a:extLst>
              <a:ext uri="{FF2B5EF4-FFF2-40B4-BE49-F238E27FC236}">
                <a16:creationId xmlns:a16="http://schemas.microsoft.com/office/drawing/2014/main" id="{875475FA-3917-9D94-ADAF-25F9A2935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3149667"/>
              </p:ext>
            </p:extLst>
          </p:nvPr>
        </p:nvGraphicFramePr>
        <p:xfrm>
          <a:off x="1026906" y="2418736"/>
          <a:ext cx="7443018" cy="38247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2881">
                  <a:extLst>
                    <a:ext uri="{9D8B030D-6E8A-4147-A177-3AD203B41FA5}">
                      <a16:colId xmlns:a16="http://schemas.microsoft.com/office/drawing/2014/main" val="2543690195"/>
                    </a:ext>
                  </a:extLst>
                </a:gridCol>
                <a:gridCol w="2721261">
                  <a:extLst>
                    <a:ext uri="{9D8B030D-6E8A-4147-A177-3AD203B41FA5}">
                      <a16:colId xmlns:a16="http://schemas.microsoft.com/office/drawing/2014/main" val="1449998144"/>
                    </a:ext>
                  </a:extLst>
                </a:gridCol>
                <a:gridCol w="2588876">
                  <a:extLst>
                    <a:ext uri="{9D8B030D-6E8A-4147-A177-3AD203B41FA5}">
                      <a16:colId xmlns:a16="http://schemas.microsoft.com/office/drawing/2014/main" val="1242571111"/>
                    </a:ext>
                  </a:extLst>
                </a:gridCol>
              </a:tblGrid>
              <a:tr h="628350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Gain attendu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1698060796"/>
                  </a:ext>
                </a:extLst>
              </a:tr>
              <a:tr h="106546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ETL quotidien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Script + planificateur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Reporting en 30 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1166599838"/>
                  </a:ext>
                </a:extLst>
              </a:tr>
              <a:tr h="106546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Règles qualité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Prix &lt; 0, stock &lt; 0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Alertes instantanées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291061204"/>
                  </a:ext>
                </a:extLst>
              </a:tr>
              <a:tr h="1065466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Power BI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 live CODIR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Décisions rapides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81248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Recommandations Business</a:t>
            </a:r>
            <a:endParaRPr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72FB2B9-2B25-7572-F7E3-598A4292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B10977C-2369-254F-A8FF-96C79D5B4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735625"/>
              </p:ext>
            </p:extLst>
          </p:nvPr>
        </p:nvGraphicFramePr>
        <p:xfrm>
          <a:off x="668594" y="2492888"/>
          <a:ext cx="7612587" cy="3553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81473">
                  <a:extLst>
                    <a:ext uri="{9D8B030D-6E8A-4147-A177-3AD203B41FA5}">
                      <a16:colId xmlns:a16="http://schemas.microsoft.com/office/drawing/2014/main" val="2822815766"/>
                    </a:ext>
                  </a:extLst>
                </a:gridCol>
                <a:gridCol w="2783258">
                  <a:extLst>
                    <a:ext uri="{9D8B030D-6E8A-4147-A177-3AD203B41FA5}">
                      <a16:colId xmlns:a16="http://schemas.microsoft.com/office/drawing/2014/main" val="2100280941"/>
                    </a:ext>
                  </a:extLst>
                </a:gridCol>
                <a:gridCol w="2647856">
                  <a:extLst>
                    <a:ext uri="{9D8B030D-6E8A-4147-A177-3AD203B41FA5}">
                      <a16:colId xmlns:a16="http://schemas.microsoft.com/office/drawing/2014/main" val="2594288714"/>
                    </a:ext>
                  </a:extLst>
                </a:gridCol>
              </a:tblGrid>
              <a:tr h="583863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Levier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 simple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Impact estimé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1242431786"/>
                  </a:ext>
                </a:extLst>
              </a:tr>
              <a:tr h="990029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</a:t>
                      </a:r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premium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+5-8 % sur 60 références luxe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+6 % CA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1095954932"/>
                  </a:ext>
                </a:extLst>
              </a:tr>
              <a:tr h="990029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Déstockage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Ventes privées ciblées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–15 % stock lent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732704857"/>
                  </a:ext>
                </a:extLst>
              </a:tr>
              <a:tr h="990029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Réduction long tail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Retrait 150 refs sans ventes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–40 h logistique/an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3963036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4EF507-9FCB-1941-0EBB-64EF5E9A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Feuille de route &amp; impact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82C5F50-9D19-CCA6-CD14-73A0D255224B}"/>
              </a:ext>
            </a:extLst>
          </p:cNvPr>
          <p:cNvSpPr txBox="1"/>
          <p:nvPr/>
        </p:nvSpPr>
        <p:spPr>
          <a:xfrm>
            <a:off x="946403" y="5325794"/>
            <a:ext cx="61547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b="1" dirty="0"/>
          </a:p>
          <a:p>
            <a:r>
              <a:rPr lang="fr-FR" b="1" dirty="0"/>
              <a:t>Impact financier global</a:t>
            </a:r>
            <a:br>
              <a:rPr lang="fr-FR" dirty="0"/>
            </a:br>
            <a:r>
              <a:rPr lang="fr-FR" dirty="0"/>
              <a:t>+6 % de CA, +2 pt de marge brute, –24 k€ de stock dormant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4AF9A6-ED10-1ACC-67D4-52987C9D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5FB973F-3274-B34C-9ACB-B82863724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23960"/>
              </p:ext>
            </p:extLst>
          </p:nvPr>
        </p:nvGraphicFramePr>
        <p:xfrm>
          <a:off x="717754" y="2330244"/>
          <a:ext cx="7752169" cy="32151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1471">
                  <a:extLst>
                    <a:ext uri="{9D8B030D-6E8A-4147-A177-3AD203B41FA5}">
                      <a16:colId xmlns:a16="http://schemas.microsoft.com/office/drawing/2014/main" val="4221833477"/>
                    </a:ext>
                  </a:extLst>
                </a:gridCol>
                <a:gridCol w="2834291">
                  <a:extLst>
                    <a:ext uri="{9D8B030D-6E8A-4147-A177-3AD203B41FA5}">
                      <a16:colId xmlns:a16="http://schemas.microsoft.com/office/drawing/2014/main" val="1996385251"/>
                    </a:ext>
                  </a:extLst>
                </a:gridCol>
                <a:gridCol w="2696407">
                  <a:extLst>
                    <a:ext uri="{9D8B030D-6E8A-4147-A177-3AD203B41FA5}">
                      <a16:colId xmlns:a16="http://schemas.microsoft.com/office/drawing/2014/main" val="337499670"/>
                    </a:ext>
                  </a:extLst>
                </a:gridCol>
              </a:tblGrid>
              <a:tr h="413119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Trimestre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2200" b="1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KPI cible</a:t>
                      </a:r>
                      <a:endParaRPr lang="fr-FR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139013857"/>
                  </a:ext>
                </a:extLst>
              </a:tr>
              <a:tr h="7005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T1</a:t>
                      </a:r>
                      <a:endParaRPr lang="fr-FR" sz="18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ETL + data quality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100 % données propres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4260176595"/>
                  </a:ext>
                </a:extLst>
              </a:tr>
              <a:tr h="350253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fr-FR" sz="1800" b="1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Dashboard CODIR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Report &lt; 30 s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871079225"/>
                  </a:ext>
                </a:extLst>
              </a:tr>
              <a:tr h="350253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T2</a:t>
                      </a:r>
                      <a:endParaRPr lang="fr-FR" sz="1800" b="1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Repricing luxe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+3 % CA mensuel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512662097"/>
                  </a:ext>
                </a:extLst>
              </a:tr>
              <a:tr h="7005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T3</a:t>
                      </a:r>
                      <a:endParaRPr lang="fr-FR" sz="1800" b="1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Déstockage massif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–50 % stock dormant</a:t>
                      </a:r>
                      <a:endParaRPr lang="fr-FR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2136034024"/>
                  </a:ext>
                </a:extLst>
              </a:tr>
              <a:tr h="700508"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T4</a:t>
                      </a:r>
                      <a:endParaRPr lang="fr-FR" sz="1800" b="1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Packs &amp; segmentation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fr-FR" sz="180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+10 € panier moyen</a:t>
                      </a:r>
                      <a:endParaRPr lang="fr-FR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7733" marR="7526" marT="7526" marB="0" anchor="ctr"/>
                </a:tc>
                <a:extLst>
                  <a:ext uri="{0D108BD9-81ED-4DB2-BD59-A6C34878D82A}">
                    <a16:rowId xmlns:a16="http://schemas.microsoft.com/office/drawing/2014/main" val="3763582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4227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Conformité RGPD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2000" dirty="0">
                <a:solidFill>
                  <a:schemeClr val="tx1"/>
                </a:solidFill>
              </a:rPr>
              <a:t>Pas de données </a:t>
            </a:r>
            <a:r>
              <a:rPr lang="fr-FR" sz="2000" dirty="0">
                <a:solidFill>
                  <a:schemeClr val="tx1"/>
                </a:solidFill>
              </a:rPr>
              <a:t>personnelles</a:t>
            </a:r>
          </a:p>
          <a:p>
            <a:pPr>
              <a:defRPr sz="1400"/>
            </a:pPr>
            <a:endParaRPr sz="2000" dirty="0">
              <a:solidFill>
                <a:schemeClr val="tx1"/>
              </a:solidFill>
            </a:endParaRPr>
          </a:p>
          <a:p>
            <a:pPr>
              <a:defRPr sz="1400"/>
            </a:pPr>
            <a:r>
              <a:rPr sz="2000" dirty="0">
                <a:solidFill>
                  <a:schemeClr val="tx1"/>
                </a:solidFill>
              </a:rPr>
              <a:t>Logs &amp; backups : conservation &lt; 3 an</a:t>
            </a:r>
            <a:r>
              <a:rPr lang="fr-FR" sz="2000" dirty="0">
                <a:solidFill>
                  <a:schemeClr val="tx1"/>
                </a:solidFill>
              </a:rPr>
              <a:t>s</a:t>
            </a:r>
          </a:p>
          <a:p>
            <a:pPr>
              <a:defRPr sz="1400"/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7916C3-FEB4-7A8F-74A6-B40388FB1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/ Merci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BE1789-39D2-1748-7DC1-9B2582F2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le d’ions">
  <a:themeElements>
    <a:clrScheme name="Salle d’ions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Salle d’ions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le d’ions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6c818a6-e1a0-4a6e-a969-20d857c5dc62}" enabled="1" method="Standard" siteId="{90c7a20a-f34b-40bf-bc48-b9253b6f5d2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1877</TotalTime>
  <Words>1285</Words>
  <Application>Microsoft Office PowerPoint</Application>
  <PresentationFormat>Affichage à l'écran (4:3)</PresentationFormat>
  <Paragraphs>288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9" baseType="lpstr">
      <vt:lpstr>Aptos</vt:lpstr>
      <vt:lpstr>Arial</vt:lpstr>
      <vt:lpstr>Arial Unicode MS</vt:lpstr>
      <vt:lpstr>Calibri</vt:lpstr>
      <vt:lpstr>Century Gothic</vt:lpstr>
      <vt:lpstr>Helvetica 75 Bold</vt:lpstr>
      <vt:lpstr>Wingdings 3</vt:lpstr>
      <vt:lpstr>Salle d’ions</vt:lpstr>
      <vt:lpstr>Projet Bottleneck</vt:lpstr>
      <vt:lpstr>Contexte de Bottleneck</vt:lpstr>
      <vt:lpstr>Objectifs de la Mission</vt:lpstr>
      <vt:lpstr>Synthèse Exécutive</vt:lpstr>
      <vt:lpstr>Sources de Données</vt:lpstr>
      <vt:lpstr>Qualité des données : avant / après</vt:lpstr>
      <vt:lpstr>Étapes de nettoyage détaillées</vt:lpstr>
      <vt:lpstr>Fusion et structure du fichier final</vt:lpstr>
      <vt:lpstr>Présentation PowerPoint</vt:lpstr>
      <vt:lpstr>Présentation PowerPoint</vt:lpstr>
      <vt:lpstr>Volumes de Vente</vt:lpstr>
      <vt:lpstr>Présentation PowerPoint</vt:lpstr>
      <vt:lpstr>Valorisation du Stock</vt:lpstr>
      <vt:lpstr>Analyse des Marges</vt:lpstr>
      <vt:lpstr>Analyse des Corrélations</vt:lpstr>
      <vt:lpstr>Points clés à retenir</vt:lpstr>
      <vt:lpstr>Recommandations Data</vt:lpstr>
      <vt:lpstr>Recommandations Business</vt:lpstr>
      <vt:lpstr>Feuille de route &amp; impact</vt:lpstr>
      <vt:lpstr>Conformité RGPD</vt:lpstr>
      <vt:lpstr>Questions / Merci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Bottleneck</dc:title>
  <dc:subject/>
  <dc:creator/>
  <cp:keywords/>
  <dc:description>generated using python-pptx</dc:description>
  <cp:lastModifiedBy>ZAIDI Mohamed Hichem OW/FINANCE</cp:lastModifiedBy>
  <cp:revision>162</cp:revision>
  <dcterms:created xsi:type="dcterms:W3CDTF">2013-01-27T09:14:16Z</dcterms:created>
  <dcterms:modified xsi:type="dcterms:W3CDTF">2025-11-19T09:51:44Z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Vue:9</vt:lpwstr>
  </property>
  <property fmtid="{D5CDD505-2E9C-101B-9397-08002B2CF9AE}" pid="3" name="ClassificationContentMarkingFooterText">
    <vt:lpwstr>Orange Restricted</vt:lpwstr>
  </property>
</Properties>
</file>